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Shots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555555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England</c:v>
                </c:pt>
                <c:pt idx="1">
                  <c:v>Spain</c:v>
                </c:pt>
                <c:pt idx="2">
                  <c:v>Italy</c:v>
                </c:pt>
                <c:pt idx="3">
                  <c:v>Germany</c:v>
                </c:pt>
                <c:pt idx="4">
                  <c:v>France</c:v>
                </c:pt>
                <c:pt idx="5">
                  <c:v>World Cup</c:v>
                </c:pt>
                <c:pt idx="6">
                  <c:v>Euro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8800</c:v>
                </c:pt>
                <c:pt idx="1">
                  <c:v>8428</c:v>
                </c:pt>
                <c:pt idx="2">
                  <c:v>9215</c:v>
                </c:pt>
                <c:pt idx="3">
                  <c:v>7181</c:v>
                </c:pt>
                <c:pt idx="4">
                  <c:v>8841</c:v>
                </c:pt>
                <c:pt idx="5">
                  <c:v>1501</c:v>
                </c:pt>
                <c:pt idx="6">
                  <c:v>1280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55555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ea2f9b8-ffab-4d49-bc47-102c289018e0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rgbClr val="2F6F9F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rgbClr val="555555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Header (body part)</c:v>
                </c:pt>
                <c:pt idx="1">
                  <c:v>Shot angle</c:v>
                </c:pt>
                <c:pt idx="2">
                  <c:v>Foot shot</c:v>
                </c:pt>
                <c:pt idx="3">
                  <c:v>Distance</c:v>
                </c:pt>
                <c:pt idx="4">
                  <c:v>Free kick</c:v>
                </c:pt>
                <c:pt idx="5">
                  <c:v>Score difference</c:v>
                </c:pt>
                <c:pt idx="6">
                  <c:v>Pitch x</c:v>
                </c:pt>
                <c:pt idx="7">
                  <c:v>Match minute</c:v>
                </c:pt>
                <c:pt idx="8">
                  <c:v>Pitch 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16.71</c:v>
                </c:pt>
                <c:pt idx="1">
                  <c:v>9.89</c:v>
                </c:pt>
                <c:pt idx="2">
                  <c:v>9.56</c:v>
                </c:pt>
                <c:pt idx="3">
                  <c:v>9.04</c:v>
                </c:pt>
                <c:pt idx="4">
                  <c:v>4.22</c:v>
                </c:pt>
                <c:pt idx="5">
                  <c:v>2.69</c:v>
                </c:pt>
                <c:pt idx="6">
                  <c:v>2.51</c:v>
                </c:pt>
                <c:pt idx="7">
                  <c:v>2.44</c:v>
                </c:pt>
                <c:pt idx="8">
                  <c:v>2.14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55555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04f089e-c476-47ac-a506-19b51e90340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68680"/>
            <a:ext cx="6583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04672" y="1783080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shot quality from Wyscout open event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6217920" cy="274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788920"/>
            <a:ext cx="58521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ML pipeline: extract shots from raw event logs, engineer xG features, and compare Logistic Regression with XGBoost.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2331720"/>
            <a:ext cx="4526280" cy="324612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2606040"/>
            <a:ext cx="39776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45,246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178040" y="3118104"/>
            <a:ext cx="3977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shot-level samples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78040" y="3520440"/>
            <a:ext cx="39776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178040" y="4032504"/>
            <a:ext cx="3977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78040" y="4434840"/>
            <a:ext cx="39776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178040" y="4946904"/>
            <a:ext cx="3977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AUC-ROC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6217920"/>
            <a:ext cx="11109960" cy="9144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291072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project · TDDE64 Sports Analytics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0" y="6291072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09960" cy="22860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72768"/>
            <a:ext cx="6217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not to predict match winners — it estimates the probability that a single shot becomes a goal.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94360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analysis: one shot event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location, geometry, body part, free-kick flag, match time, and score context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goal probability — the xG value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1874520"/>
            <a:ext cx="4526280" cy="324612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2331720"/>
            <a:ext cx="22860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178040" y="3337560"/>
            <a:ext cx="3977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P(goal | shot features)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78040" y="3840480"/>
            <a:ext cx="3977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model for shot quality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6217920"/>
            <a:ext cx="11109960" cy="9144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291072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project · TDDE64 Sports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0" y="6291072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09960" cy="22860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74520"/>
            <a:ext cx="1993392" cy="214884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2039112"/>
            <a:ext cx="411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9224" y="2350008"/>
            <a:ext cx="170078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2770632"/>
            <a:ext cx="1700784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Wyscout open event and match JSON files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14600" y="2788920"/>
            <a:ext cx="1645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60904" y="1874520"/>
            <a:ext cx="1993392" cy="214884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7208" y="2039112"/>
            <a:ext cx="411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07208" y="2350008"/>
            <a:ext cx="170078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07208" y="2770632"/>
            <a:ext cx="1700784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shot events; remove penalties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72584" y="2788920"/>
            <a:ext cx="1645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18888" y="1874520"/>
            <a:ext cx="1993392" cy="214884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2039112"/>
            <a:ext cx="411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65192" y="2350008"/>
            <a:ext cx="170078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65192" y="2770632"/>
            <a:ext cx="1700784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angle, body part, free kick, score diff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30568" y="2788920"/>
            <a:ext cx="1645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76872" y="1874520"/>
            <a:ext cx="1993392" cy="214884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2039112"/>
            <a:ext cx="411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23176" y="2350008"/>
            <a:ext cx="170078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23176" y="2770632"/>
            <a:ext cx="1700784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and XGBoost × 3 imbalance strategies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88552" y="2788920"/>
            <a:ext cx="1645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34856" y="1874520"/>
            <a:ext cx="1993392" cy="214884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2039112"/>
            <a:ext cx="411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1160" y="2350008"/>
            <a:ext cx="170078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81160" y="2770632"/>
            <a:ext cx="1700784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ROC curves, feature importance, LaTeX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434840"/>
            <a:ext cx="11109960" cy="658368"/>
          </a:xfrm>
          <a:prstGeom prst="rect">
            <a:avLst/>
          </a:prstGeom>
          <a:solidFill>
            <a:srgbClr val="FFF0EA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4544568"/>
            <a:ext cx="1078077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choice: score_diff is captured before the shot outcome, avoiding target leakage.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6217920"/>
            <a:ext cx="11109960" cy="9144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291072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project · TDDE64 Sports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291072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09960" cy="22860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72768"/>
            <a:ext cx="11109960" cy="86868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82496"/>
            <a:ext cx="2743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45,246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shots (filtered)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682496"/>
            <a:ext cx="22860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2286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goal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682496"/>
            <a:ext cx="32004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17920" y="2194560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5029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by competition</a:t>
            </a:r>
            <a:endParaRPr lang="en-US" sz="15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02920" y="3127248"/>
          <a:ext cx="54864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400800" y="2788920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rate by competition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6400800" y="3127248"/>
          <a:ext cx="4572000" cy="2487168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rate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England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Cup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02920" y="6217920"/>
            <a:ext cx="11109960" cy="9144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6291072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project · TDDE64 Sports Analytics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058400" y="6291072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09960" cy="22860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72768"/>
            <a:ext cx="9144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families compared under three class-imbalance strategies.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520440" cy="233172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542032"/>
            <a:ext cx="311810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04088" y="2907792"/>
            <a:ext cx="5029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3063240"/>
            <a:ext cx="3118104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2331720"/>
            <a:ext cx="3520440" cy="233172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2542032"/>
            <a:ext cx="311810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453128" y="2907792"/>
            <a:ext cx="5029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3063240"/>
            <a:ext cx="3118104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01000" y="2331720"/>
            <a:ext cx="3520440" cy="233172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2542032"/>
            <a:ext cx="311810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02168" y="2907792"/>
            <a:ext cx="5029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3063240"/>
            <a:ext cx="3118104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· AUC-PR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Sensitivity · Specificity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892040"/>
            <a:ext cx="11109960" cy="713232"/>
          </a:xfrm>
          <a:prstGeom prst="rect">
            <a:avLst/>
          </a:prstGeom>
          <a:solidFill>
            <a:srgbClr val="EAF2F8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5001768"/>
            <a:ext cx="10780776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group by match? Shots from the same match never cross folds — the test set better simulates unseen matches.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6217920"/>
            <a:ext cx="11109960" cy="9144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291072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project · TDDE64 Sports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0" y="6291072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09960" cy="22860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02920" y="1664208"/>
          <a:ext cx="6903720" cy="2432304"/>
        </p:xfrm>
        <a:graphic>
          <a:graphicData uri="http://schemas.openxmlformats.org/drawingml/2006/table">
            <a:tbl>
              <a:tblPr/>
              <a:tblGrid>
                <a:gridCol w="1417320"/>
                <a:gridCol w="1051560"/>
                <a:gridCol w="658368"/>
                <a:gridCol w="749808"/>
                <a:gridCol w="566928"/>
                <a:gridCol w="658368"/>
                <a:gridCol w="658368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AUC-PR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0.329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0.097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0.329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0.328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0.323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0.334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64208"/>
            <a:ext cx="3977640" cy="324612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7863840" y="1828800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readout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63840" y="2240280"/>
            <a:ext cx="352044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slightly leads on AUC-ROC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and SMOTE improve recall but reduce specificity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models do not automatically win with basic xG features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5230368"/>
            <a:ext cx="11109960" cy="566928"/>
          </a:xfrm>
          <a:prstGeom prst="rect">
            <a:avLst/>
          </a:prstGeom>
          <a:solidFill>
            <a:srgbClr val="FFF0EA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5340096"/>
            <a:ext cx="1078077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AUC-ROC: Logistic Regression + class weight = 0.771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6217920"/>
            <a:ext cx="11109960" cy="9144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291072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project · TDDE64 Sports Analytics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058400" y="6291072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09960" cy="22860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27048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feature gain (top 9)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874520"/>
          <a:ext cx="59893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720840" y="1874520"/>
            <a:ext cx="4892040" cy="3977640"/>
          </a:xfrm>
          <a:prstGeom prst="rect">
            <a:avLst/>
          </a:prstGeom>
          <a:solidFill>
            <a:srgbClr val="F4F4F4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0" y="2057400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49440" y="2514600"/>
            <a:ext cx="443484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type and geometry dominate the signal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/ body-part indicator is the strongest gain feature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and distance remain core xG variables — matching football intuition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6217920"/>
            <a:ext cx="11109960" cy="9144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291072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project · TDDE64 Sports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058400" y="6291072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099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09960" cy="22860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727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successfully turns raw event logs into a reproducible shot-quality model.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5750" y="2418715"/>
            <a:ext cx="5168265" cy="2468245"/>
          </a:xfrm>
          <a:prstGeom prst="rect">
            <a:avLst/>
          </a:prstGeom>
          <a:solidFill>
            <a:srgbClr val="FFF0EA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793" y="2697480"/>
            <a:ext cx="494690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conclusion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117215"/>
            <a:ext cx="48920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geometric features already explain most of the measurable signal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does not clearly outperform the linear baseline on this feature 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21350" y="2167255"/>
            <a:ext cx="4488815" cy="2404745"/>
          </a:xfrm>
          <a:prstGeom prst="rect">
            <a:avLst/>
          </a:prstGeom>
          <a:solidFill>
            <a:srgbClr val="EAF2F8"/>
          </a:solidFill>
          <a:ln w="6350">
            <a:solidFill>
              <a:srgbClr val="B8B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2697480"/>
            <a:ext cx="494690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315468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calibration analysis: Brier score and reliability curves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on the validation fold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context: defender pressure, assist type, GK position, pre-shot sequence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6217920"/>
            <a:ext cx="11109960" cy="9144"/>
          </a:xfrm>
          <a:prstGeom prst="rect">
            <a:avLst/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291072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project · TDDE64 Sports Analytics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0" y="6291072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3269</Words>
  <Application>WPS 演示</Application>
  <PresentationFormat>On-screen Show (16:9)</PresentationFormat>
  <Paragraphs>326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Helvetica Neue</vt:lpstr>
      <vt:lpstr>Calibri</vt:lpstr>
      <vt:lpstr>Calibri</vt:lpstr>
      <vt:lpstr>Arial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Expected Goals Modeling</dc:title>
  <dc:creator>Zeyuan Sheng</dc:creator>
  <dc:subject>TDDE64 Sports Analytics</dc:subject>
  <cp:lastModifiedBy>CINCINNATUS</cp:lastModifiedBy>
  <cp:revision>2</cp:revision>
  <dcterms:created xsi:type="dcterms:W3CDTF">2026-06-28T13:18:33Z</dcterms:created>
  <dcterms:modified xsi:type="dcterms:W3CDTF">2026-06-28T13:18:33Z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AF7E970BEDE6AE4F291F416A13F5D79B_42</vt:lpwstr>
  </property>
</Properties>
</file>